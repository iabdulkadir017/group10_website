
<file path=[Content_Types].xml><?xml version="1.0" encoding="utf-8"?>
<Types xmlns="http://schemas.openxmlformats.org/package/2006/content-types">
  <Default Extension="png" ContentType="image/pn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7" r:id="rId2"/>
  </p:sldIdLst>
  <p:sldSz cx="14211300" cy="20104100"/>
  <p:notesSz cx="14211300" cy="20104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abeeb" initials="H" lastIdx="2" clrIdx="0">
    <p:extLst>
      <p:ext uri="{19B8F6BF-5375-455C-9EA6-DF929625EA0E}">
        <p15:presenceInfo xmlns:p15="http://schemas.microsoft.com/office/powerpoint/2012/main" userId="Habeeb"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42" d="100"/>
          <a:sy n="42" d="100"/>
        </p:scale>
        <p:origin x="1312" y="-25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commentAuthors" Target="commentAuthors.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157913" cy="100806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8050213" y="0"/>
            <a:ext cx="6157912" cy="1008063"/>
          </a:xfrm>
          <a:prstGeom prst="rect">
            <a:avLst/>
          </a:prstGeom>
        </p:spPr>
        <p:txBody>
          <a:bodyPr vert="horz" lIns="91440" tIns="45720" rIns="91440" bIns="45720" rtlCol="0"/>
          <a:lstStyle>
            <a:lvl1pPr algn="r">
              <a:defRPr sz="1200"/>
            </a:lvl1pPr>
          </a:lstStyle>
          <a:p>
            <a:fld id="{4FAB41A7-CB98-456C-B73A-F2814A465B88}" type="datetimeFigureOut">
              <a:rPr lang="en-GB" smtClean="0"/>
              <a:t>24/08/2023</a:t>
            </a:fld>
            <a:endParaRPr lang="en-GB"/>
          </a:p>
        </p:txBody>
      </p:sp>
      <p:sp>
        <p:nvSpPr>
          <p:cNvPr id="4" name="Slide Image Placeholder 3"/>
          <p:cNvSpPr>
            <a:spLocks noGrp="1" noRot="1" noChangeAspect="1"/>
          </p:cNvSpPr>
          <p:nvPr>
            <p:ph type="sldImg" idx="2"/>
          </p:nvPr>
        </p:nvSpPr>
        <p:spPr>
          <a:xfrm>
            <a:off x="4706938" y="2513013"/>
            <a:ext cx="4797425" cy="678497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420813" y="9675813"/>
            <a:ext cx="11369675" cy="79152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19096038"/>
            <a:ext cx="6157913" cy="1008062"/>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8050213" y="19096038"/>
            <a:ext cx="6157912" cy="1008062"/>
          </a:xfrm>
          <a:prstGeom prst="rect">
            <a:avLst/>
          </a:prstGeom>
        </p:spPr>
        <p:txBody>
          <a:bodyPr vert="horz" lIns="91440" tIns="45720" rIns="91440" bIns="45720" rtlCol="0" anchor="b"/>
          <a:lstStyle>
            <a:lvl1pPr algn="r">
              <a:defRPr sz="1200"/>
            </a:lvl1pPr>
          </a:lstStyle>
          <a:p>
            <a:fld id="{05558822-8C47-4A52-A71E-CC84F5016BD2}" type="slidenum">
              <a:rPr lang="en-GB" smtClean="0"/>
              <a:t>‹#›</a:t>
            </a:fld>
            <a:endParaRPr lang="en-GB"/>
          </a:p>
        </p:txBody>
      </p:sp>
    </p:spTree>
    <p:extLst>
      <p:ext uri="{BB962C8B-B14F-4D97-AF65-F5344CB8AC3E}">
        <p14:creationId xmlns:p14="http://schemas.microsoft.com/office/powerpoint/2010/main" val="2855195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5558822-8C47-4A52-A71E-CC84F5016BD2}" type="slidenum">
              <a:rPr lang="en-GB" smtClean="0"/>
              <a:t>1</a:t>
            </a:fld>
            <a:endParaRPr lang="en-GB"/>
          </a:p>
        </p:txBody>
      </p:sp>
    </p:spTree>
    <p:extLst>
      <p:ext uri="{BB962C8B-B14F-4D97-AF65-F5344CB8AC3E}">
        <p14:creationId xmlns:p14="http://schemas.microsoft.com/office/powerpoint/2010/main" val="3187119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66323" y="6232271"/>
            <a:ext cx="12085003" cy="4221861"/>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132647" y="11258296"/>
            <a:ext cx="9952355" cy="50260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710882" y="4623943"/>
            <a:ext cx="6184678" cy="1326870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322089" y="4623943"/>
            <a:ext cx="6184678" cy="1326870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8/24/2023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603">
              <a:srgbClr val="ECF2F8"/>
            </a:gs>
            <a:gs pos="46916">
              <a:srgbClr val="CAD9EB"/>
            </a:gs>
            <a:gs pos="0">
              <a:schemeClr val="accent1">
                <a:lumMod val="5000"/>
                <a:lumOff val="95000"/>
              </a:schemeClr>
            </a:gs>
            <a:gs pos="22114">
              <a:srgbClr val="E1EAF4"/>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6" name="bg object 16"/>
          <p:cNvSpPr/>
          <p:nvPr/>
        </p:nvSpPr>
        <p:spPr>
          <a:xfrm>
            <a:off x="0" y="0"/>
            <a:ext cx="14212569" cy="20104100"/>
          </a:xfrm>
          <a:custGeom>
            <a:avLst/>
            <a:gdLst/>
            <a:ahLst/>
            <a:cxnLst/>
            <a:rect l="l" t="t" r="r" b="b"/>
            <a:pathLst>
              <a:path w="14212569" h="20104100">
                <a:moveTo>
                  <a:pt x="14212110" y="20104092"/>
                </a:moveTo>
                <a:lnTo>
                  <a:pt x="14212110" y="0"/>
                </a:lnTo>
                <a:lnTo>
                  <a:pt x="0" y="0"/>
                </a:lnTo>
                <a:lnTo>
                  <a:pt x="0" y="20104092"/>
                </a:lnTo>
                <a:lnTo>
                  <a:pt x="14212110" y="20104092"/>
                </a:lnTo>
                <a:close/>
              </a:path>
            </a:pathLst>
          </a:custGeom>
          <a:solidFill>
            <a:srgbClr val="E6B8B8"/>
          </a:solidFill>
        </p:spPr>
        <p:txBody>
          <a:bodyPr wrap="square" lIns="0" tIns="0" rIns="0" bIns="0" rtlCol="0"/>
          <a:lstStyle/>
          <a:p>
            <a:endParaRPr/>
          </a:p>
        </p:txBody>
      </p:sp>
      <p:sp>
        <p:nvSpPr>
          <p:cNvPr id="17" name="bg object 17"/>
          <p:cNvSpPr/>
          <p:nvPr/>
        </p:nvSpPr>
        <p:spPr>
          <a:xfrm>
            <a:off x="14212109" y="0"/>
            <a:ext cx="0" cy="20104100"/>
          </a:xfrm>
          <a:custGeom>
            <a:avLst/>
            <a:gdLst/>
            <a:ahLst/>
            <a:cxnLst/>
            <a:rect l="l" t="t" r="r" b="b"/>
            <a:pathLst>
              <a:path h="20104100">
                <a:moveTo>
                  <a:pt x="0" y="20104092"/>
                </a:moveTo>
                <a:lnTo>
                  <a:pt x="0" y="0"/>
                </a:lnTo>
              </a:path>
            </a:pathLst>
          </a:custGeom>
          <a:ln w="18980">
            <a:solidFill>
              <a:srgbClr val="E6B8B8"/>
            </a:solidFill>
          </a:ln>
        </p:spPr>
        <p:txBody>
          <a:bodyPr wrap="square" lIns="0" tIns="0" rIns="0" bIns="0" rtlCol="0"/>
          <a:lstStyle/>
          <a:p>
            <a:endParaRPr/>
          </a:p>
        </p:txBody>
      </p:sp>
      <p:sp>
        <p:nvSpPr>
          <p:cNvPr id="18" name="bg object 18"/>
          <p:cNvSpPr/>
          <p:nvPr/>
        </p:nvSpPr>
        <p:spPr>
          <a:xfrm>
            <a:off x="149532" y="9759666"/>
            <a:ext cx="13962380" cy="3279140"/>
          </a:xfrm>
          <a:custGeom>
            <a:avLst/>
            <a:gdLst/>
            <a:ahLst/>
            <a:cxnLst/>
            <a:rect l="l" t="t" r="r" b="b"/>
            <a:pathLst>
              <a:path w="13962380" h="3279140">
                <a:moveTo>
                  <a:pt x="13962024" y="0"/>
                </a:moveTo>
                <a:lnTo>
                  <a:pt x="0" y="0"/>
                </a:lnTo>
                <a:lnTo>
                  <a:pt x="0" y="3278810"/>
                </a:lnTo>
                <a:lnTo>
                  <a:pt x="13962024" y="3278810"/>
                </a:lnTo>
                <a:lnTo>
                  <a:pt x="13962024" y="0"/>
                </a:lnTo>
                <a:close/>
              </a:path>
            </a:pathLst>
          </a:custGeom>
          <a:solidFill>
            <a:srgbClr val="548ED4"/>
          </a:solidFill>
        </p:spPr>
        <p:txBody>
          <a:bodyPr wrap="square" lIns="0" tIns="0" rIns="0" bIns="0" rtlCol="0"/>
          <a:lstStyle/>
          <a:p>
            <a:endParaRPr/>
          </a:p>
        </p:txBody>
      </p:sp>
      <p:sp>
        <p:nvSpPr>
          <p:cNvPr id="19" name="bg object 19"/>
          <p:cNvSpPr/>
          <p:nvPr/>
        </p:nvSpPr>
        <p:spPr>
          <a:xfrm>
            <a:off x="149532" y="9759666"/>
            <a:ext cx="13962380" cy="3279140"/>
          </a:xfrm>
          <a:custGeom>
            <a:avLst/>
            <a:gdLst/>
            <a:ahLst/>
            <a:cxnLst/>
            <a:rect l="l" t="t" r="r" b="b"/>
            <a:pathLst>
              <a:path w="13962380" h="3279140">
                <a:moveTo>
                  <a:pt x="0" y="3278810"/>
                </a:moveTo>
                <a:lnTo>
                  <a:pt x="13962024" y="3278810"/>
                </a:lnTo>
                <a:lnTo>
                  <a:pt x="13962024" y="0"/>
                </a:lnTo>
                <a:lnTo>
                  <a:pt x="0" y="0"/>
                </a:lnTo>
                <a:lnTo>
                  <a:pt x="0" y="3278810"/>
                </a:lnTo>
                <a:close/>
              </a:path>
            </a:pathLst>
          </a:custGeom>
          <a:ln w="3175">
            <a:solidFill>
              <a:srgbClr val="2805B9"/>
            </a:solidFill>
          </a:ln>
        </p:spPr>
        <p:txBody>
          <a:bodyPr wrap="square" lIns="0" tIns="0" rIns="0" bIns="0" rtlCol="0"/>
          <a:lstStyle/>
          <a:p>
            <a:endParaRPr/>
          </a:p>
        </p:txBody>
      </p:sp>
      <p:sp>
        <p:nvSpPr>
          <p:cNvPr id="2" name="Holder 2"/>
          <p:cNvSpPr>
            <a:spLocks noGrp="1"/>
          </p:cNvSpPr>
          <p:nvPr>
            <p:ph type="title"/>
          </p:nvPr>
        </p:nvSpPr>
        <p:spPr>
          <a:xfrm>
            <a:off x="710882" y="804164"/>
            <a:ext cx="12795885" cy="321665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710882" y="4623943"/>
            <a:ext cx="12795885" cy="1326870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834001" y="18696814"/>
            <a:ext cx="4549648" cy="100520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10882" y="18696814"/>
            <a:ext cx="3270059" cy="100520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8/24/2023</a:t>
            </a:fld>
            <a:endParaRPr lang="en-US"/>
          </a:p>
        </p:txBody>
      </p:sp>
      <p:sp>
        <p:nvSpPr>
          <p:cNvPr id="6" name="Holder 6"/>
          <p:cNvSpPr>
            <a:spLocks noGrp="1"/>
          </p:cNvSpPr>
          <p:nvPr>
            <p:ph type="sldNum" sz="quarter" idx="7"/>
          </p:nvPr>
        </p:nvSpPr>
        <p:spPr>
          <a:xfrm>
            <a:off x="10236708" y="18696814"/>
            <a:ext cx="3270059" cy="100520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a:gsLst>
            <a:gs pos="36000">
              <a:srgbClr val="ECF2F8"/>
            </a:gs>
            <a:gs pos="46916">
              <a:srgbClr val="CAD9EB"/>
            </a:gs>
            <a:gs pos="0">
              <a:schemeClr val="accent1">
                <a:lumMod val="5000"/>
                <a:lumOff val="95000"/>
              </a:schemeClr>
            </a:gs>
            <a:gs pos="22114">
              <a:srgbClr val="E1EAF4"/>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8ED3D967-AEC8-4640-889E-AA00D22EA066}"/>
              </a:ext>
            </a:extLst>
          </p:cNvPr>
          <p:cNvSpPr/>
          <p:nvPr/>
        </p:nvSpPr>
        <p:spPr>
          <a:xfrm>
            <a:off x="17477" y="5392565"/>
            <a:ext cx="14148603" cy="13129015"/>
          </a:xfrm>
          <a:prstGeom prst="rect">
            <a:avLst/>
          </a:prstGeom>
          <a:blipFill>
            <a:blip r:embed="rId3">
              <a:alphaModFix amt="21000"/>
              <a:duotone>
                <a:prstClr val="black"/>
                <a:srgbClr val="D9C3A5">
                  <a:tint val="50000"/>
                  <a:satMod val="180000"/>
                </a:srgbClr>
              </a:duotone>
            </a:blip>
            <a:stretch>
              <a:fillRect l="8663" t="5432" r="8347" b="6878"/>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b="1" dirty="0"/>
          </a:p>
        </p:txBody>
      </p:sp>
      <p:grpSp>
        <p:nvGrpSpPr>
          <p:cNvPr id="6" name="object 6"/>
          <p:cNvGrpSpPr/>
          <p:nvPr/>
        </p:nvGrpSpPr>
        <p:grpSpPr>
          <a:xfrm>
            <a:off x="1885956" y="0"/>
            <a:ext cx="10625455" cy="1764194"/>
            <a:chOff x="1889640" y="0"/>
            <a:chExt cx="10625455" cy="897890"/>
          </a:xfrm>
        </p:grpSpPr>
        <p:sp>
          <p:nvSpPr>
            <p:cNvPr id="7" name="object 7"/>
            <p:cNvSpPr/>
            <p:nvPr/>
          </p:nvSpPr>
          <p:spPr>
            <a:xfrm>
              <a:off x="1892815" y="0"/>
              <a:ext cx="10619105" cy="891540"/>
            </a:xfrm>
            <a:custGeom>
              <a:avLst/>
              <a:gdLst/>
              <a:ahLst/>
              <a:cxnLst/>
              <a:rect l="l" t="t" r="r" b="b"/>
              <a:pathLst>
                <a:path w="10619105" h="891540">
                  <a:moveTo>
                    <a:pt x="0" y="891069"/>
                  </a:moveTo>
                  <a:lnTo>
                    <a:pt x="10618595" y="891069"/>
                  </a:lnTo>
                  <a:lnTo>
                    <a:pt x="10618595" y="0"/>
                  </a:lnTo>
                  <a:lnTo>
                    <a:pt x="0" y="0"/>
                  </a:lnTo>
                  <a:lnTo>
                    <a:pt x="0" y="891069"/>
                  </a:lnTo>
                  <a:close/>
                </a:path>
              </a:pathLst>
            </a:custGeom>
          </p:spPr>
          <p:style>
            <a:lnRef idx="1">
              <a:schemeClr val="accent1"/>
            </a:lnRef>
            <a:fillRef idx="2">
              <a:schemeClr val="accent1"/>
            </a:fillRef>
            <a:effectRef idx="1">
              <a:schemeClr val="accent1"/>
            </a:effectRef>
            <a:fontRef idx="minor">
              <a:schemeClr val="dk1"/>
            </a:fontRef>
          </p:style>
          <p:txBody>
            <a:bodyPr wrap="square" lIns="0" tIns="0" rIns="0" bIns="0" rtlCol="0"/>
            <a:lstStyle/>
            <a:p>
              <a:endParaRPr/>
            </a:p>
          </p:txBody>
        </p:sp>
        <p:sp>
          <p:nvSpPr>
            <p:cNvPr id="8" name="object 8"/>
            <p:cNvSpPr/>
            <p:nvPr/>
          </p:nvSpPr>
          <p:spPr>
            <a:xfrm>
              <a:off x="1892815" y="0"/>
              <a:ext cx="10619105" cy="891540"/>
            </a:xfrm>
            <a:custGeom>
              <a:avLst/>
              <a:gdLst/>
              <a:ahLst/>
              <a:cxnLst/>
              <a:rect l="l" t="t" r="r" b="b"/>
              <a:pathLst>
                <a:path w="10619105" h="891540">
                  <a:moveTo>
                    <a:pt x="0" y="891069"/>
                  </a:moveTo>
                  <a:lnTo>
                    <a:pt x="10618595" y="891069"/>
                  </a:lnTo>
                  <a:lnTo>
                    <a:pt x="10618595" y="0"/>
                  </a:lnTo>
                </a:path>
              </a:pathLst>
            </a:custGeom>
            <a:ln/>
          </p:spPr>
          <p:style>
            <a:lnRef idx="1">
              <a:schemeClr val="accent1"/>
            </a:lnRef>
            <a:fillRef idx="2">
              <a:schemeClr val="accent1"/>
            </a:fillRef>
            <a:effectRef idx="1">
              <a:schemeClr val="accent1"/>
            </a:effectRef>
            <a:fontRef idx="minor">
              <a:schemeClr val="dk1"/>
            </a:fontRef>
          </p:style>
          <p:txBody>
            <a:bodyPr wrap="square" lIns="0" tIns="0" rIns="0" bIns="0" rtlCol="0"/>
            <a:lstStyle/>
            <a:p>
              <a:endParaRPr/>
            </a:p>
          </p:txBody>
        </p:sp>
      </p:grpSp>
      <p:sp>
        <p:nvSpPr>
          <p:cNvPr id="9" name="object 9"/>
          <p:cNvSpPr txBox="1"/>
          <p:nvPr/>
        </p:nvSpPr>
        <p:spPr>
          <a:xfrm>
            <a:off x="2668230" y="0"/>
            <a:ext cx="9079865" cy="519822"/>
          </a:xfrm>
          <a:prstGeom prst="rect">
            <a:avLst/>
          </a:prstGeom>
        </p:spPr>
        <p:txBody>
          <a:bodyPr vert="horz" wrap="square" lIns="0" tIns="12065" rIns="0" bIns="0" rtlCol="0">
            <a:spAutoFit/>
          </a:bodyPr>
          <a:lstStyle/>
          <a:p>
            <a:pPr marL="960119" marR="5080" indent="-960755" algn="ctr">
              <a:lnSpc>
                <a:spcPct val="101000"/>
              </a:lnSpc>
              <a:spcBef>
                <a:spcPts val="95"/>
              </a:spcBef>
            </a:pPr>
            <a:r>
              <a:rPr lang="en-GB" sz="2200" spc="20" dirty="0">
                <a:solidFill>
                  <a:srgbClr val="2805B9"/>
                </a:solidFill>
                <a:latin typeface="Bahnschrift SemiBold Condensed" panose="020B0502040204020203" pitchFamily="34" charset="0"/>
                <a:cs typeface="Arial Black"/>
              </a:rPr>
              <a:t>EDGE AI-BASED PLASTIC BOTTLE AND METAL CAN DETECTION AND AUTOMATIC WASTE SEGREGATION SYSTEM</a:t>
            </a:r>
          </a:p>
        </p:txBody>
      </p:sp>
      <p:sp>
        <p:nvSpPr>
          <p:cNvPr id="13" name="object 13"/>
          <p:cNvSpPr txBox="1"/>
          <p:nvPr/>
        </p:nvSpPr>
        <p:spPr>
          <a:xfrm>
            <a:off x="997743" y="5111055"/>
            <a:ext cx="2049590" cy="323807"/>
          </a:xfrm>
          <a:prstGeom prst="rect">
            <a:avLst/>
          </a:prstGeom>
          <a:gradFill flip="none" rotWithShape="1">
            <a:gsLst>
              <a:gs pos="0">
                <a:srgbClr val="1C85A6"/>
              </a:gs>
              <a:gs pos="50000">
                <a:schemeClr val="accent1">
                  <a:tint val="44500"/>
                  <a:satMod val="160000"/>
                </a:schemeClr>
              </a:gs>
              <a:gs pos="100000">
                <a:schemeClr val="accent1">
                  <a:tint val="23500"/>
                  <a:satMod val="160000"/>
                </a:schemeClr>
              </a:gs>
            </a:gsLst>
            <a:path path="circle">
              <a:fillToRect l="100000" b="100000"/>
            </a:path>
            <a:tileRect t="-100000" r="-100000"/>
          </a:gradFill>
        </p:spPr>
        <p:txBody>
          <a:bodyPr vert="horz" wrap="square" lIns="0" tIns="15875" rIns="0" bIns="0" rtlCol="0">
            <a:spAutoFit/>
          </a:bodyPr>
          <a:lstStyle/>
          <a:p>
            <a:pPr marL="12700">
              <a:lnSpc>
                <a:spcPct val="100000"/>
              </a:lnSpc>
              <a:spcBef>
                <a:spcPts val="125"/>
              </a:spcBef>
            </a:pPr>
            <a:r>
              <a:rPr lang="en-GB" sz="2000" b="1" dirty="0">
                <a:latin typeface="Arial Black"/>
                <a:cs typeface="Arial Black"/>
              </a:rPr>
              <a:t>Introduction</a:t>
            </a:r>
            <a:endParaRPr sz="2000" b="1" dirty="0">
              <a:latin typeface="Arial Black"/>
              <a:cs typeface="Arial Black"/>
            </a:endParaRPr>
          </a:p>
        </p:txBody>
      </p:sp>
      <p:grpSp>
        <p:nvGrpSpPr>
          <p:cNvPr id="30" name="object 30"/>
          <p:cNvGrpSpPr/>
          <p:nvPr/>
        </p:nvGrpSpPr>
        <p:grpSpPr>
          <a:xfrm>
            <a:off x="99508" y="0"/>
            <a:ext cx="14012544" cy="1747364"/>
            <a:chOff x="99508" y="0"/>
            <a:chExt cx="14012544" cy="891540"/>
          </a:xfrm>
        </p:grpSpPr>
        <p:pic>
          <p:nvPicPr>
            <p:cNvPr id="31" name="object 31"/>
            <p:cNvPicPr/>
            <p:nvPr/>
          </p:nvPicPr>
          <p:blipFill>
            <a:blip r:embed="rId4" cstate="print"/>
            <a:stretch>
              <a:fillRect/>
            </a:stretch>
          </p:blipFill>
          <p:spPr>
            <a:xfrm>
              <a:off x="12511411" y="0"/>
              <a:ext cx="1600094" cy="891068"/>
            </a:xfrm>
            <a:prstGeom prst="rect">
              <a:avLst/>
            </a:prstGeom>
          </p:spPr>
        </p:pic>
        <p:pic>
          <p:nvPicPr>
            <p:cNvPr id="32" name="object 32"/>
            <p:cNvPicPr/>
            <p:nvPr/>
          </p:nvPicPr>
          <p:blipFill>
            <a:blip r:embed="rId5" cstate="print"/>
            <a:stretch>
              <a:fillRect/>
            </a:stretch>
          </p:blipFill>
          <p:spPr>
            <a:xfrm>
              <a:off x="99508" y="0"/>
              <a:ext cx="1796470" cy="891069"/>
            </a:xfrm>
            <a:prstGeom prst="rect">
              <a:avLst/>
            </a:prstGeom>
          </p:spPr>
        </p:pic>
      </p:grpSp>
      <p:sp>
        <p:nvSpPr>
          <p:cNvPr id="37" name="object 37"/>
          <p:cNvSpPr txBox="1"/>
          <p:nvPr/>
        </p:nvSpPr>
        <p:spPr>
          <a:xfrm>
            <a:off x="0" y="1642989"/>
            <a:ext cx="14227483" cy="1256754"/>
          </a:xfrm>
          <a:prstGeom prst="rect">
            <a:avLst/>
          </a:prstGeom>
          <a:solidFill>
            <a:schemeClr val="accent1">
              <a:lumMod val="20000"/>
              <a:lumOff val="80000"/>
            </a:schemeClr>
          </a:solidFill>
          <a:ln>
            <a:solidFill>
              <a:srgbClr val="00B050"/>
            </a:solidFill>
          </a:ln>
        </p:spPr>
        <p:txBody>
          <a:bodyPr vert="horz" wrap="square" lIns="0" tIns="25400" rIns="0" bIns="0" rtlCol="0">
            <a:spAutoFit/>
          </a:bodyPr>
          <a:lstStyle/>
          <a:p>
            <a:pPr marL="635" algn="ctr">
              <a:lnSpc>
                <a:spcPct val="100000"/>
              </a:lnSpc>
              <a:spcBef>
                <a:spcPts val="35"/>
              </a:spcBef>
            </a:pPr>
            <a:r>
              <a:rPr lang="en-GB" sz="2000" b="1" spc="20" dirty="0">
                <a:latin typeface="Arial"/>
                <a:cs typeface="Arial"/>
              </a:rPr>
              <a:t>Department of Computer Engineering, Faculty of Engineering, </a:t>
            </a:r>
          </a:p>
          <a:p>
            <a:pPr marL="635" algn="ctr">
              <a:lnSpc>
                <a:spcPct val="100000"/>
              </a:lnSpc>
              <a:spcBef>
                <a:spcPts val="35"/>
              </a:spcBef>
            </a:pPr>
            <a:r>
              <a:rPr lang="en-GB" sz="2000" b="1" spc="20" dirty="0">
                <a:latin typeface="Arial"/>
                <a:cs typeface="Arial"/>
              </a:rPr>
              <a:t>Ahmadu Bello University Zaria, Kaduna State, Nigeria</a:t>
            </a:r>
          </a:p>
          <a:p>
            <a:pPr marL="635" algn="ctr">
              <a:lnSpc>
                <a:spcPct val="100000"/>
              </a:lnSpc>
              <a:spcBef>
                <a:spcPts val="35"/>
              </a:spcBef>
            </a:pPr>
            <a:endParaRPr lang="en-GB" sz="2000" b="1" spc="20" dirty="0">
              <a:latin typeface="Arial"/>
              <a:cs typeface="Arial"/>
            </a:endParaRPr>
          </a:p>
          <a:p>
            <a:pPr marL="635" algn="ctr">
              <a:lnSpc>
                <a:spcPct val="100000"/>
              </a:lnSpc>
              <a:spcBef>
                <a:spcPts val="35"/>
              </a:spcBef>
            </a:pPr>
            <a:r>
              <a:rPr lang="en-GB" sz="2000" b="1" spc="20" dirty="0">
                <a:latin typeface="Arial"/>
                <a:cs typeface="Arial"/>
              </a:rPr>
              <a:t>Student Names:  </a:t>
            </a:r>
            <a:r>
              <a:rPr lang="en-GB" sz="2000" b="1" spc="20" dirty="0" err="1">
                <a:latin typeface="Arial"/>
                <a:cs typeface="Arial"/>
              </a:rPr>
              <a:t>Mohammed Adamu Abubakar, </a:t>
            </a:r>
            <a:r>
              <a:rPr lang="en-GB" sz="2000" b="1" spc="20" dirty="0">
                <a:latin typeface="Arial"/>
                <a:cs typeface="Arial"/>
              </a:rPr>
              <a:t>Ibrahim Abdulkadir</a:t>
            </a:r>
            <a:r>
              <a:rPr lang="en-GB" sz="2000" b="1" spc="20" dirty="0" err="1">
                <a:latin typeface="Arial"/>
                <a:cs typeface="Arial"/>
              </a:rPr>
              <a:t>     </a:t>
            </a:r>
            <a:r>
              <a:rPr lang="en-GB" sz="2000" b="1" spc="20" dirty="0">
                <a:latin typeface="Arial"/>
                <a:cs typeface="Arial"/>
              </a:rPr>
              <a:t>     Supervised by: [Supervisor's Name]</a:t>
            </a:r>
            <a:endParaRPr lang="en-GB" sz="2000" b="1" spc="10" dirty="0">
              <a:latin typeface="Arial"/>
              <a:cs typeface="Arial"/>
            </a:endParaRPr>
          </a:p>
        </p:txBody>
      </p:sp>
      <p:sp>
        <p:nvSpPr>
          <p:cNvPr id="48" name="object 48"/>
          <p:cNvSpPr txBox="1"/>
          <p:nvPr/>
        </p:nvSpPr>
        <p:spPr>
          <a:xfrm>
            <a:off x="7293426" y="17730200"/>
            <a:ext cx="6786245" cy="236603"/>
          </a:xfrm>
          <a:prstGeom prst="rect">
            <a:avLst/>
          </a:prstGeom>
        </p:spPr>
        <p:txBody>
          <a:bodyPr vert="horz" wrap="square" lIns="0" tIns="13335" rIns="0" bIns="0" rtlCol="0">
            <a:spAutoFit/>
          </a:bodyPr>
          <a:lstStyle/>
          <a:p>
            <a:pPr marL="12700">
              <a:lnSpc>
                <a:spcPct val="100000"/>
              </a:lnSpc>
              <a:spcBef>
                <a:spcPts val="105"/>
              </a:spcBef>
            </a:pPr>
            <a:endParaRPr sz="1450" dirty="0">
              <a:latin typeface="Times New Roman"/>
              <a:cs typeface="Times New Roman"/>
            </a:endParaRPr>
          </a:p>
        </p:txBody>
      </p:sp>
      <p:sp>
        <p:nvSpPr>
          <p:cNvPr id="49" name="object 49"/>
          <p:cNvSpPr txBox="1"/>
          <p:nvPr/>
        </p:nvSpPr>
        <p:spPr>
          <a:xfrm>
            <a:off x="7293426" y="18173276"/>
            <a:ext cx="6686550" cy="224870"/>
          </a:xfrm>
          <a:prstGeom prst="rect">
            <a:avLst/>
          </a:prstGeom>
        </p:spPr>
        <p:txBody>
          <a:bodyPr vert="horz" wrap="square" lIns="0" tIns="12065" rIns="0" bIns="0" rtlCol="0">
            <a:spAutoFit/>
          </a:bodyPr>
          <a:lstStyle/>
          <a:p>
            <a:pPr marL="12700" marR="5080">
              <a:lnSpc>
                <a:spcPct val="100800"/>
              </a:lnSpc>
              <a:spcBef>
                <a:spcPts val="95"/>
              </a:spcBef>
            </a:pPr>
            <a:endParaRPr sz="1450" dirty="0">
              <a:latin typeface="Times New Roman"/>
              <a:cs typeface="Times New Roman"/>
            </a:endParaRPr>
          </a:p>
        </p:txBody>
      </p:sp>
      <p:sp>
        <p:nvSpPr>
          <p:cNvPr id="66" name="object 13">
            <a:extLst>
              <a:ext uri="{FF2B5EF4-FFF2-40B4-BE49-F238E27FC236}">
                <a16:creationId xmlns:a16="http://schemas.microsoft.com/office/drawing/2014/main" id="{B0242FD9-D7CF-432E-962E-B85F7155384D}"/>
              </a:ext>
            </a:extLst>
          </p:cNvPr>
          <p:cNvSpPr txBox="1"/>
          <p:nvPr/>
        </p:nvSpPr>
        <p:spPr>
          <a:xfrm>
            <a:off x="6126850" y="5111055"/>
            <a:ext cx="2049590" cy="339195"/>
          </a:xfrm>
          <a:prstGeom prst="rect">
            <a:avLst/>
          </a:prstGeom>
          <a:gradFill flip="none" rotWithShape="1">
            <a:gsLst>
              <a:gs pos="0">
                <a:srgbClr val="1C85A6"/>
              </a:gs>
              <a:gs pos="50000">
                <a:schemeClr val="accent1">
                  <a:tint val="44500"/>
                  <a:satMod val="160000"/>
                </a:schemeClr>
              </a:gs>
              <a:gs pos="100000">
                <a:schemeClr val="accent1">
                  <a:tint val="23500"/>
                  <a:satMod val="160000"/>
                </a:schemeClr>
              </a:gs>
            </a:gsLst>
            <a:path path="circle">
              <a:fillToRect r="100000" b="100000"/>
            </a:path>
            <a:tileRect l="-100000" t="-100000"/>
          </a:gradFill>
        </p:spPr>
        <p:txBody>
          <a:bodyPr vert="horz" wrap="square" lIns="0" tIns="15875" rIns="0" bIns="0" rtlCol="0">
            <a:spAutoFit/>
          </a:bodyPr>
          <a:lstStyle/>
          <a:p>
            <a:pPr marL="12700">
              <a:lnSpc>
                <a:spcPct val="100000"/>
              </a:lnSpc>
              <a:spcBef>
                <a:spcPts val="125"/>
              </a:spcBef>
            </a:pPr>
            <a:r>
              <a:rPr lang="en-GB" sz="2100" b="1" dirty="0">
                <a:latin typeface="Arial Black"/>
                <a:cs typeface="Arial Black"/>
              </a:rPr>
              <a:t>Methodology</a:t>
            </a:r>
            <a:endParaRPr sz="2100" b="1" dirty="0">
              <a:latin typeface="Arial Black"/>
              <a:cs typeface="Arial Black"/>
            </a:endParaRPr>
          </a:p>
        </p:txBody>
      </p:sp>
      <p:sp>
        <p:nvSpPr>
          <p:cNvPr id="72" name="object 13">
            <a:extLst>
              <a:ext uri="{FF2B5EF4-FFF2-40B4-BE49-F238E27FC236}">
                <a16:creationId xmlns:a16="http://schemas.microsoft.com/office/drawing/2014/main" id="{7D86CBC5-A7EE-4CA6-9718-02BA9E4B4155}"/>
              </a:ext>
            </a:extLst>
          </p:cNvPr>
          <p:cNvSpPr txBox="1"/>
          <p:nvPr/>
        </p:nvSpPr>
        <p:spPr>
          <a:xfrm>
            <a:off x="6433879" y="2892371"/>
            <a:ext cx="1742561" cy="323807"/>
          </a:xfrm>
          <a:prstGeom prst="rect">
            <a:avLst/>
          </a:prstGeom>
          <a:solidFill>
            <a:srgbClr val="00B0F0"/>
          </a:solidFill>
        </p:spPr>
        <p:txBody>
          <a:bodyPr vert="horz" wrap="square" lIns="0" tIns="15875" rIns="0" bIns="0" rtlCol="0">
            <a:spAutoFit/>
          </a:bodyPr>
          <a:lstStyle/>
          <a:p>
            <a:pPr marL="12700">
              <a:lnSpc>
                <a:spcPct val="100000"/>
              </a:lnSpc>
              <a:spcBef>
                <a:spcPts val="125"/>
              </a:spcBef>
            </a:pPr>
            <a:r>
              <a:rPr lang="en-GB" sz="2000" b="1" dirty="0">
                <a:latin typeface="Arial Black"/>
                <a:cs typeface="Arial Black"/>
              </a:rPr>
              <a:t>Abstract</a:t>
            </a:r>
            <a:endParaRPr sz="2000" b="1" dirty="0">
              <a:latin typeface="Arial Black"/>
              <a:cs typeface="Arial Black"/>
            </a:endParaRPr>
          </a:p>
        </p:txBody>
      </p:sp>
      <p:sp>
        <p:nvSpPr>
          <p:cNvPr id="4" name="Rectangle 3">
            <a:extLst>
              <a:ext uri="{FF2B5EF4-FFF2-40B4-BE49-F238E27FC236}">
                <a16:creationId xmlns:a16="http://schemas.microsoft.com/office/drawing/2014/main" id="{E2CD6D60-68E6-4351-B18C-B3A6FFC94346}"/>
              </a:ext>
            </a:extLst>
          </p:cNvPr>
          <p:cNvSpPr/>
          <p:nvPr/>
        </p:nvSpPr>
        <p:spPr>
          <a:xfrm>
            <a:off x="0" y="3211937"/>
            <a:ext cx="14211300" cy="1864193"/>
          </a:xfrm>
          <a:prstGeom prst="rect">
            <a:avLst/>
          </a:prstGeom>
          <a:gradFill>
            <a:gsLst>
              <a:gs pos="3000">
                <a:srgbClr val="00B0F0"/>
              </a:gs>
              <a:gs pos="46916">
                <a:srgbClr val="CAD9EB"/>
              </a:gs>
              <a:gs pos="0">
                <a:schemeClr val="accent1">
                  <a:lumMod val="5000"/>
                  <a:lumOff val="95000"/>
                </a:schemeClr>
              </a:gs>
              <a:gs pos="22114">
                <a:srgbClr val="E1EAF4"/>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l">
              <a:lnSpc>
                <a:spcPct val="112000"/>
              </a:lnSpc>
              <a:spcAft>
                <a:spcPts val="0"/>
              </a:spcAft>
            </a:pPr>
            <a:r>
              <a:rPr sz="1500" b="0">
                <a:solidFill>
                  <a:srgbClr val="12283C"/>
                </a:solidFill>
                <a:latin typeface="Arial"/>
              </a:rPr>
              <a:t>Improper waste segregation contributes significantly to environmental pollution and reduced recycling efficiency. This project presents an Edge AI-based system that automatically detects and segregates plastic bottles and metal cans using Tiny Machine Learning (TinyML). An ESP32-CAM captures real-time images of waste items and classifies them as plastic, metal, or unknown using a lightweight Edge Impulse-trained model that runs entirely on-device, with no cloud dependency. The classification result is sent via serial communication to an Arduino Nano, which drives two servo motors to direct the waste into the correct compartment. Two ultrasonic sensors continuously monitor bin fill levels, while LED indicators and a buzzer alert users when a compartment is full. The result is a low-cost, low-latency, and scalable waste-sorting solution suitable for smart cities, schools, and offices.</a:t>
            </a:r>
            <a:endParaRPr lang="en-GB"/>
          </a:p>
        </p:txBody>
      </p:sp>
      <p:sp>
        <p:nvSpPr>
          <p:cNvPr id="11" name="Rectangle: Rounded Corners 10">
            <a:extLst>
              <a:ext uri="{FF2B5EF4-FFF2-40B4-BE49-F238E27FC236}">
                <a16:creationId xmlns:a16="http://schemas.microsoft.com/office/drawing/2014/main" id="{21D12E58-D5FF-4D23-A4C7-FC88DC41B93B}"/>
              </a:ext>
            </a:extLst>
          </p:cNvPr>
          <p:cNvSpPr/>
          <p:nvPr/>
        </p:nvSpPr>
        <p:spPr>
          <a:xfrm>
            <a:off x="129991" y="5390338"/>
            <a:ext cx="4514297" cy="612154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wrap="square"/>
          <a:lstStyle/>
          <a:p>
            <a:pPr algn="l">
              <a:lnSpc>
                <a:spcPct val="110000"/>
              </a:lnSpc>
              <a:spcAft>
                <a:spcPts val="800"/>
              </a:spcAft>
            </a:pPr>
            <a:r>
              <a:rPr sz="1400" b="0">
                <a:solidFill>
                  <a:srgbClr val="12283C"/>
                </a:solidFill>
                <a:latin typeface="Arial"/>
              </a:rPr>
              <a:t>Rapid urbanization and population growth have driven a sharp rise in municipal solid waste. Manual sorting is slow, labour-intensive, and exposes workers to health hazards.</a:t>
            </a:r>
            <a:endParaRPr lang="en-GB" dirty="0">
              <a:solidFill>
                <a:schemeClr val="tx1"/>
              </a:solidFill>
            </a:endParaRPr>
          </a:p>
          <a:p>
            <a:pPr algn="l">
              <a:lnSpc>
                <a:spcPct val="110000"/>
              </a:lnSpc>
              <a:spcAft>
                <a:spcPts val="800"/>
              </a:spcAft>
            </a:pPr>
            <a:r>
              <a:rPr sz="1400" b="0">
                <a:solidFill>
                  <a:srgbClr val="12283C"/>
                </a:solidFill>
                <a:latin typeface="Arial"/>
              </a:rPr>
              <a:t>TinyML now allows real-time AI inference directly on low-power microcontrollers, removing the need for cloud servers or expensive computing hardware.</a:t>
            </a:r>
          </a:p>
          <a:p>
            <a:pPr algn="l">
              <a:lnSpc>
                <a:spcPct val="110000"/>
              </a:lnSpc>
              <a:spcAft>
                <a:spcPts val="800"/>
              </a:spcAft>
            </a:pPr>
            <a:r>
              <a:rPr sz="1400" b="0">
                <a:solidFill>
                  <a:srgbClr val="12283C"/>
                </a:solidFill>
                <a:latin typeface="Arial"/>
              </a:rPr>
              <a:t>This project designs an embedded AI system that identifies plastic bottles and metal cans in real time and automatically sorts them, with live bin-level monitoring.</a:t>
            </a:r>
          </a:p>
          <a:p>
            <a:pPr algn="l">
              <a:lnSpc>
                <a:spcPct val="110000"/>
              </a:lnSpc>
              <a:spcAft>
                <a:spcPts val="200"/>
              </a:spcAft>
            </a:pPr>
            <a:r>
              <a:rPr sz="1400" b="1">
                <a:solidFill>
                  <a:srgbClr val="12283C"/>
                </a:solidFill>
                <a:latin typeface="Arial"/>
              </a:rPr>
              <a:t>Objectives:</a:t>
            </a:r>
          </a:p>
          <a:p>
            <a:pPr algn="l">
              <a:lnSpc>
                <a:spcPct val="110000"/>
              </a:lnSpc>
              <a:spcAft>
                <a:spcPts val="300"/>
              </a:spcAft>
            </a:pPr>
            <a:r>
              <a:rPr sz="1300" b="0">
                <a:solidFill>
                  <a:srgbClr val="12283C"/>
                </a:solidFill>
                <a:latin typeface="Arial"/>
              </a:rPr>
              <a:t>•  Classify plastic and metal waste using TinyML</a:t>
            </a:r>
          </a:p>
          <a:p>
            <a:pPr algn="l">
              <a:lnSpc>
                <a:spcPct val="110000"/>
              </a:lnSpc>
              <a:spcAft>
                <a:spcPts val="300"/>
              </a:spcAft>
            </a:pPr>
            <a:r>
              <a:rPr sz="1300" b="0">
                <a:solidFill>
                  <a:srgbClr val="12283C"/>
                </a:solidFill>
                <a:latin typeface="Arial"/>
              </a:rPr>
              <a:t>•  Real-time image acquisition via ESP32-CAM</a:t>
            </a:r>
          </a:p>
          <a:p>
            <a:pPr algn="l">
              <a:lnSpc>
                <a:spcPct val="110000"/>
              </a:lnSpc>
              <a:spcAft>
                <a:spcPts val="300"/>
              </a:spcAft>
            </a:pPr>
            <a:r>
              <a:rPr sz="1300" b="0">
                <a:solidFill>
                  <a:srgbClr val="12283C"/>
                </a:solidFill>
                <a:latin typeface="Arial"/>
              </a:rPr>
              <a:t>•  Automate sorting using servo-controlled gates</a:t>
            </a:r>
          </a:p>
          <a:p>
            <a:pPr algn="l">
              <a:lnSpc>
                <a:spcPct val="110000"/>
              </a:lnSpc>
              <a:spcAft>
                <a:spcPts val="300"/>
              </a:spcAft>
            </a:pPr>
            <a:r>
              <a:rPr sz="1300" b="0">
                <a:solidFill>
                  <a:srgbClr val="12283C"/>
                </a:solidFill>
                <a:latin typeface="Arial"/>
              </a:rPr>
              <a:t>•  Monitor bin levels with ultrasonic sensors</a:t>
            </a:r>
          </a:p>
          <a:p>
            <a:pPr algn="l">
              <a:lnSpc>
                <a:spcPct val="110000"/>
              </a:lnSpc>
              <a:spcAft>
                <a:spcPts val="300"/>
              </a:spcAft>
            </a:pPr>
            <a:r>
              <a:rPr sz="1300" b="0">
                <a:solidFill>
                  <a:srgbClr val="12283C"/>
                </a:solidFill>
                <a:latin typeface="Arial"/>
              </a:rPr>
              <a:t>•  Evaluate accuracy and response time</a:t>
            </a:r>
          </a:p>
        </p:txBody>
      </p:sp>
      <p:sp>
        <p:nvSpPr>
          <p:cNvPr id="14" name="Rectangle: Rounded Corners 13">
            <a:extLst>
              <a:ext uri="{FF2B5EF4-FFF2-40B4-BE49-F238E27FC236}">
                <a16:creationId xmlns:a16="http://schemas.microsoft.com/office/drawing/2014/main" id="{CB1A92F6-45B3-4A7D-89E1-C36F6E101101}"/>
              </a:ext>
            </a:extLst>
          </p:cNvPr>
          <p:cNvSpPr/>
          <p:nvPr/>
        </p:nvSpPr>
        <p:spPr>
          <a:xfrm>
            <a:off x="4700993" y="5401560"/>
            <a:ext cx="5481952" cy="7829916"/>
          </a:xfrm>
          <a:prstGeom prst="roundRect">
            <a:avLst/>
          </a:prstGeom>
          <a:noFill/>
          <a:ln>
            <a:solidFill>
              <a:srgbClr val="1C85A6"/>
            </a:solidFill>
          </a:ln>
        </p:spPr>
        <p:style>
          <a:lnRef idx="2">
            <a:schemeClr val="accent1">
              <a:shade val="50000"/>
            </a:schemeClr>
          </a:lnRef>
          <a:fillRef idx="1">
            <a:schemeClr val="accent1"/>
          </a:fillRef>
          <a:effectRef idx="0">
            <a:schemeClr val="accent1"/>
          </a:effectRef>
          <a:fontRef idx="minor">
            <a:schemeClr val="lt1"/>
          </a:fontRef>
        </p:style>
        <p:txBody>
          <a:bodyPr rtlCol="0" anchor="t" wrap="square"/>
          <a:lstStyle/>
          <a:p>
            <a:pPr algn="l">
              <a:lnSpc>
                <a:spcPct val="112000"/>
              </a:lnSpc>
              <a:spcAft>
                <a:spcPts val="400"/>
              </a:spcAft>
            </a:pPr>
            <a:r>
              <a:rPr sz="1500" b="1">
                <a:solidFill>
                  <a:srgbClr val="12283C"/>
                </a:solidFill>
                <a:latin typeface="Arial"/>
              </a:rPr>
              <a:t>How it works</a:t>
            </a:r>
            <a:endParaRPr lang="en-GB" dirty="0">
              <a:solidFill>
                <a:srgbClr val="FF0000"/>
              </a:solidFill>
            </a:endParaRPr>
          </a:p>
          <a:p>
            <a:pPr algn="l">
              <a:lnSpc>
                <a:spcPct val="112000"/>
              </a:lnSpc>
              <a:spcAft>
                <a:spcPts val="0"/>
              </a:spcAft>
            </a:pPr>
            <a:r>
              <a:rPr sz="1350" b="0">
                <a:solidFill>
                  <a:srgbClr val="12283C"/>
                </a:solidFill>
                <a:latin typeface="Arial"/>
              </a:rPr>
              <a:t>The ESP32-CAM captures each waste image and runs an on-device Edge Impulse TinyML model to classify it as Plastic, Metal, or Unknown. The result is sent by serial UART to an Arduino Nano, which checks the target bin's capacity via ultrasonic sensors before opening the matching servo gate. LEDs and a buzzer give real-time status feedback.</a:t>
            </a:r>
          </a:p>
        </p:txBody>
      </p:sp>
      <p:sp>
        <p:nvSpPr>
          <p:cNvPr id="15" name="Rectangle 14">
            <a:extLst>
              <a:ext uri="{FF2B5EF4-FFF2-40B4-BE49-F238E27FC236}">
                <a16:creationId xmlns:a16="http://schemas.microsoft.com/office/drawing/2014/main" id="{95478405-DAC4-476C-8D34-11180894B9F5}"/>
              </a:ext>
            </a:extLst>
          </p:cNvPr>
          <p:cNvSpPr/>
          <p:nvPr/>
        </p:nvSpPr>
        <p:spPr>
          <a:xfrm>
            <a:off x="10209113" y="5401109"/>
            <a:ext cx="3957115" cy="8127633"/>
          </a:xfrm>
          <a:prstGeom prst="rect">
            <a:avLst/>
          </a:prstGeom>
          <a:noFill/>
          <a:ln>
            <a:solidFill>
              <a:srgbClr val="1C85A6"/>
            </a:solidFill>
          </a:ln>
        </p:spPr>
        <p:style>
          <a:lnRef idx="2">
            <a:schemeClr val="accent1">
              <a:shade val="50000"/>
            </a:schemeClr>
          </a:lnRef>
          <a:fillRef idx="1">
            <a:schemeClr val="accent1"/>
          </a:fillRef>
          <a:effectRef idx="0">
            <a:schemeClr val="accent1"/>
          </a:effectRef>
          <a:fontRef idx="minor">
            <a:schemeClr val="lt1"/>
          </a:fontRef>
        </p:style>
        <p:txBody>
          <a:bodyPr rtlCol="0" anchor="t" wrap="square"/>
          <a:lstStyle/>
          <a:p>
            <a:pPr algn="l">
              <a:lnSpc>
                <a:spcPct val="110000"/>
              </a:lnSpc>
              <a:spcAft>
                <a:spcPts val="400"/>
              </a:spcAft>
            </a:pPr>
            <a:r>
              <a:rPr sz="1450" b="1">
                <a:solidFill>
                  <a:srgbClr val="12283C"/>
                </a:solidFill>
                <a:latin typeface="Arial"/>
              </a:rPr>
              <a:t>Expected performance</a:t>
            </a:r>
            <a:endParaRPr lang="en-GB">
              <a:solidFill>
                <a:schemeClr val="accent6">
                  <a:lumMod val="75000"/>
                </a:schemeClr>
              </a:solidFill>
            </a:endParaRPr>
          </a:p>
          <a:p>
            <a:pPr algn="l">
              <a:lnSpc>
                <a:spcPct val="110000"/>
              </a:lnSpc>
              <a:spcAft>
                <a:spcPts val="0"/>
              </a:spcAft>
            </a:pPr>
            <a:r>
              <a:rPr sz="1200" b="0">
                <a:solidFill>
                  <a:srgbClr val="12283C"/>
                </a:solidFill>
                <a:latin typeface="Arial"/>
              </a:rPr>
              <a:t>Full experimental results are still being collected. Figures below are preliminary targets based on comparable Edge Impulse waste-classification deployments and will be confirmed during system testing.</a:t>
            </a:r>
          </a:p>
        </p:txBody>
      </p:sp>
      <p:sp>
        <p:nvSpPr>
          <p:cNvPr id="16" name="Rectangle: Rounded Corners 15">
            <a:extLst>
              <a:ext uri="{FF2B5EF4-FFF2-40B4-BE49-F238E27FC236}">
                <a16:creationId xmlns:a16="http://schemas.microsoft.com/office/drawing/2014/main" id="{10FD426A-F566-4699-956B-B8EDEBC9FF66}"/>
              </a:ext>
            </a:extLst>
          </p:cNvPr>
          <p:cNvSpPr/>
          <p:nvPr/>
        </p:nvSpPr>
        <p:spPr>
          <a:xfrm>
            <a:off x="4216275" y="13543670"/>
            <a:ext cx="9975359" cy="2178290"/>
          </a:xfrm>
          <a:prstGeom prst="roundRect">
            <a:avLst>
              <a:gd name="adj" fmla="val 1527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l">
              <a:lnSpc>
                <a:spcPct val="115000"/>
              </a:lnSpc>
              <a:spcAft>
                <a:spcPts val="0"/>
              </a:spcAft>
            </a:pPr>
            <a:r>
              <a:rPr sz="1700" b="0">
                <a:solidFill>
                  <a:srgbClr val="12283C"/>
                </a:solidFill>
                <a:latin typeface="Arial"/>
              </a:rPr>
              <a:t>Combines on-device TinyML inference, automated servo-based sorting, and real-time bin-level monitoring in a single low-power embedded platform — removing cloud dependency while keeping hardware cost and response latency low. The modular ESP32-CAM / Arduino Nano architecture makes it easy to extend the system to new waste categories or additional sensors.</a:t>
            </a:r>
            <a:endParaRPr lang="en-GB" dirty="0"/>
          </a:p>
        </p:txBody>
      </p:sp>
      <p:sp>
        <p:nvSpPr>
          <p:cNvPr id="17" name="Rectangle: Rounded Corners 16">
            <a:extLst>
              <a:ext uri="{FF2B5EF4-FFF2-40B4-BE49-F238E27FC236}">
                <a16:creationId xmlns:a16="http://schemas.microsoft.com/office/drawing/2014/main" id="{4B8B2960-2AFB-44E2-8C16-2C20532198DE}"/>
              </a:ext>
            </a:extLst>
          </p:cNvPr>
          <p:cNvSpPr/>
          <p:nvPr/>
        </p:nvSpPr>
        <p:spPr>
          <a:xfrm>
            <a:off x="36382" y="15686152"/>
            <a:ext cx="14145306" cy="1489271"/>
          </a:xfrm>
          <a:prstGeom prst="round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wrap="square"/>
          <a:lstStyle/>
          <a:p>
            <a:pPr algn="l">
              <a:lnSpc>
                <a:spcPct val="112000"/>
              </a:lnSpc>
              <a:spcAft>
                <a:spcPts val="0"/>
              </a:spcAft>
            </a:pPr>
            <a:r>
              <a:rPr sz="1800" b="0">
                <a:solidFill>
                  <a:srgbClr val="12283C"/>
                </a:solidFill>
                <a:latin typeface="Arial"/>
              </a:rPr>
              <a:t>The developed Edge AI-based waste segregation system shows that low-power embedded devices can reliably classify and automatically sort plastic and metal waste in real time, without cloud computing. By integrating TinyML classification, servo-based sorting, and ultrasonic bin monitoring, the system offers a practical, low-cost, and scalable solution for improving recycling efficiency in homes, schools, and smart-city waste-management infrastructure.</a:t>
            </a:r>
            <a:endParaRPr lang="en-GB"/>
          </a:p>
        </p:txBody>
      </p:sp>
      <p:sp>
        <p:nvSpPr>
          <p:cNvPr id="18" name="Rectangle 17">
            <a:extLst>
              <a:ext uri="{FF2B5EF4-FFF2-40B4-BE49-F238E27FC236}">
                <a16:creationId xmlns:a16="http://schemas.microsoft.com/office/drawing/2014/main" id="{7E25653B-63FC-488F-8897-A886BD36E22B}"/>
              </a:ext>
            </a:extLst>
          </p:cNvPr>
          <p:cNvSpPr/>
          <p:nvPr/>
        </p:nvSpPr>
        <p:spPr>
          <a:xfrm>
            <a:off x="31674" y="18833774"/>
            <a:ext cx="14141989" cy="1225770"/>
          </a:xfrm>
          <a:prstGeom prst="rect">
            <a:avLst/>
          </a:prstGeom>
          <a:noFill/>
        </p:spPr>
        <p:style>
          <a:lnRef idx="1">
            <a:schemeClr val="dk1"/>
          </a:lnRef>
          <a:fillRef idx="3">
            <a:schemeClr val="dk1"/>
          </a:fillRef>
          <a:effectRef idx="2">
            <a:schemeClr val="dk1"/>
          </a:effectRef>
          <a:fontRef idx="minor">
            <a:schemeClr val="lt1"/>
          </a:fontRef>
        </p:style>
        <p:txBody>
          <a:bodyPr rtlCol="0" anchor="ctr"/>
          <a:lstStyle/>
          <a:p>
            <a:pPr algn="ctr"/>
            <a:endParaRPr lang="en-GB"/>
          </a:p>
        </p:txBody>
      </p:sp>
      <p:sp>
        <p:nvSpPr>
          <p:cNvPr id="20" name="Rectangle 19">
            <a:extLst>
              <a:ext uri="{FF2B5EF4-FFF2-40B4-BE49-F238E27FC236}">
                <a16:creationId xmlns:a16="http://schemas.microsoft.com/office/drawing/2014/main" id="{15669E08-BDAD-4AA0-85D2-ED1D17047133}"/>
              </a:ext>
            </a:extLst>
          </p:cNvPr>
          <p:cNvSpPr/>
          <p:nvPr/>
        </p:nvSpPr>
        <p:spPr>
          <a:xfrm>
            <a:off x="5173697" y="10150377"/>
            <a:ext cx="4186454" cy="339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Single Corner Rounded 22">
            <a:extLst>
              <a:ext uri="{FF2B5EF4-FFF2-40B4-BE49-F238E27FC236}">
                <a16:creationId xmlns:a16="http://schemas.microsoft.com/office/drawing/2014/main" id="{9A1A32B4-ED57-4B4A-9366-B40E2E0356F2}"/>
              </a:ext>
            </a:extLst>
          </p:cNvPr>
          <p:cNvSpPr/>
          <p:nvPr/>
        </p:nvSpPr>
        <p:spPr>
          <a:xfrm>
            <a:off x="17477" y="12195239"/>
            <a:ext cx="4198799" cy="2872380"/>
          </a:xfrm>
          <a:prstGeom prst="round1Rect">
            <a:avLst/>
          </a:prstGeom>
          <a:no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wrap="square"/>
          <a:lstStyle/>
          <a:p>
            <a:pPr algn="l">
              <a:lnSpc>
                <a:spcPct val="110000"/>
              </a:lnSpc>
              <a:spcAft>
                <a:spcPts val="800"/>
              </a:spcAft>
            </a:pPr>
            <a:r>
              <a:rPr sz="1350" b="0">
                <a:solidFill>
                  <a:srgbClr val="12283C"/>
                </a:solidFill>
                <a:latin typeface="Arial"/>
              </a:rPr>
              <a:t>•  Deployable in smart cities, schools, offices, and residential estates</a:t>
            </a:r>
            <a:endParaRPr lang="en-GB"/>
          </a:p>
          <a:p>
            <a:pPr algn="l">
              <a:lnSpc>
                <a:spcPct val="110000"/>
              </a:lnSpc>
              <a:spcAft>
                <a:spcPts val="800"/>
              </a:spcAft>
            </a:pPr>
            <a:r>
              <a:rPr sz="1350" b="0">
                <a:solidFill>
                  <a:srgbClr val="12283C"/>
                </a:solidFill>
                <a:latin typeface="Arial"/>
              </a:rPr>
              <a:t>•  Low-cost components make affordable mass production possible</a:t>
            </a:r>
          </a:p>
          <a:p>
            <a:pPr algn="l">
              <a:lnSpc>
                <a:spcPct val="110000"/>
              </a:lnSpc>
              <a:spcAft>
                <a:spcPts val="800"/>
              </a:spcAft>
            </a:pPr>
            <a:r>
              <a:rPr sz="1350" b="0">
                <a:solidFill>
                  <a:srgbClr val="12283C"/>
                </a:solidFill>
                <a:latin typeface="Arial"/>
              </a:rPr>
              <a:t>•  No cloud/internet dependency reduces running cost</a:t>
            </a:r>
          </a:p>
          <a:p>
            <a:pPr algn="l">
              <a:lnSpc>
                <a:spcPct val="110000"/>
              </a:lnSpc>
              <a:spcAft>
                <a:spcPts val="800"/>
              </a:spcAft>
            </a:pPr>
            <a:r>
              <a:rPr sz="1350" b="0">
                <a:solidFill>
                  <a:srgbClr val="12283C"/>
                </a:solidFill>
                <a:latin typeface="Arial"/>
              </a:rPr>
              <a:t>•  Easily scalable to more waste categories (paper, glass, e-waste)</a:t>
            </a:r>
          </a:p>
          <a:p>
            <a:pPr algn="l">
              <a:lnSpc>
                <a:spcPct val="110000"/>
              </a:lnSpc>
              <a:spcAft>
                <a:spcPts val="800"/>
              </a:spcAft>
            </a:pPr>
            <a:r>
              <a:rPr sz="1350" b="0">
                <a:solidFill>
                  <a:srgbClr val="12283C"/>
                </a:solidFill>
                <a:latin typeface="Arial"/>
              </a:rPr>
              <a:t>•  Potential partnership with recycling and waste-management firms</a:t>
            </a:r>
          </a:p>
        </p:txBody>
      </p:sp>
      <p:sp>
        <p:nvSpPr>
          <p:cNvPr id="40" name="object 13">
            <a:extLst>
              <a:ext uri="{FF2B5EF4-FFF2-40B4-BE49-F238E27FC236}">
                <a16:creationId xmlns:a16="http://schemas.microsoft.com/office/drawing/2014/main" id="{336B8103-68F3-446D-9DAE-9DDF24A8B837}"/>
              </a:ext>
            </a:extLst>
          </p:cNvPr>
          <p:cNvSpPr txBox="1"/>
          <p:nvPr/>
        </p:nvSpPr>
        <p:spPr>
          <a:xfrm>
            <a:off x="11034432" y="5103778"/>
            <a:ext cx="2049590" cy="339195"/>
          </a:xfrm>
          <a:prstGeom prst="rect">
            <a:avLst/>
          </a:prstGeom>
          <a:gradFill flip="none" rotWithShape="1">
            <a:gsLst>
              <a:gs pos="0">
                <a:srgbClr val="1C85A6"/>
              </a:gs>
              <a:gs pos="50000">
                <a:schemeClr val="accent1">
                  <a:tint val="44500"/>
                  <a:satMod val="160000"/>
                </a:schemeClr>
              </a:gs>
              <a:gs pos="100000">
                <a:schemeClr val="accent1">
                  <a:tint val="23500"/>
                  <a:satMod val="160000"/>
                </a:schemeClr>
              </a:gs>
            </a:gsLst>
            <a:path path="circle">
              <a:fillToRect r="100000" b="100000"/>
            </a:path>
            <a:tileRect l="-100000" t="-100000"/>
          </a:gradFill>
        </p:spPr>
        <p:txBody>
          <a:bodyPr vert="horz" wrap="square" lIns="0" tIns="15875" rIns="0" bIns="0" rtlCol="0">
            <a:spAutoFit/>
          </a:bodyPr>
          <a:lstStyle/>
          <a:p>
            <a:pPr marL="12700">
              <a:lnSpc>
                <a:spcPct val="100000"/>
              </a:lnSpc>
              <a:spcBef>
                <a:spcPts val="125"/>
              </a:spcBef>
            </a:pPr>
            <a:r>
              <a:rPr lang="en-GB" sz="2100" b="1" dirty="0">
                <a:latin typeface="Arial Black"/>
                <a:cs typeface="Arial Black"/>
              </a:rPr>
              <a:t>Result</a:t>
            </a:r>
            <a:endParaRPr sz="2100" b="1" dirty="0">
              <a:latin typeface="Arial Black"/>
              <a:cs typeface="Arial Black"/>
            </a:endParaRPr>
          </a:p>
        </p:txBody>
      </p:sp>
      <p:sp>
        <p:nvSpPr>
          <p:cNvPr id="42" name="object 13">
            <a:extLst>
              <a:ext uri="{FF2B5EF4-FFF2-40B4-BE49-F238E27FC236}">
                <a16:creationId xmlns:a16="http://schemas.microsoft.com/office/drawing/2014/main" id="{9A271C53-CDE6-42C0-97B8-0278447D9947}"/>
              </a:ext>
            </a:extLst>
          </p:cNvPr>
          <p:cNvSpPr txBox="1"/>
          <p:nvPr/>
        </p:nvSpPr>
        <p:spPr>
          <a:xfrm>
            <a:off x="45154" y="11507510"/>
            <a:ext cx="4251361" cy="662361"/>
          </a:xfrm>
          <a:prstGeom prst="rect">
            <a:avLst/>
          </a:prstGeom>
          <a:gradFill flip="none" rotWithShape="1">
            <a:gsLst>
              <a:gs pos="0">
                <a:srgbClr val="1C85A6"/>
              </a:gs>
              <a:gs pos="50000">
                <a:schemeClr val="accent1">
                  <a:tint val="44500"/>
                  <a:satMod val="160000"/>
                </a:schemeClr>
              </a:gs>
              <a:gs pos="100000">
                <a:schemeClr val="accent1">
                  <a:tint val="23500"/>
                  <a:satMod val="160000"/>
                </a:schemeClr>
              </a:gs>
            </a:gsLst>
            <a:path path="circle">
              <a:fillToRect l="100000" b="100000"/>
            </a:path>
            <a:tileRect t="-100000" r="-100000"/>
          </a:gradFill>
        </p:spPr>
        <p:txBody>
          <a:bodyPr vert="horz" wrap="square" lIns="0" tIns="15875" rIns="0" bIns="0" rtlCol="0">
            <a:spAutoFit/>
          </a:bodyPr>
          <a:lstStyle/>
          <a:p>
            <a:pPr marL="12700">
              <a:lnSpc>
                <a:spcPct val="100000"/>
              </a:lnSpc>
              <a:spcBef>
                <a:spcPts val="125"/>
              </a:spcBef>
            </a:pPr>
            <a:r>
              <a:rPr lang="en-GB" sz="2100" b="1" dirty="0">
                <a:cs typeface="Arial Black"/>
              </a:rPr>
              <a:t>Potential for Product </a:t>
            </a:r>
            <a:r>
              <a:rPr lang="en-GB" sz="2100" b="1" dirty="0">
                <a:latin typeface="Arial" panose="020B0604020202020204" pitchFamily="34" charset="0"/>
                <a:cs typeface="Arial" panose="020B0604020202020204" pitchFamily="34" charset="0"/>
              </a:rPr>
              <a:t>Commercialization</a:t>
            </a:r>
            <a:endParaRPr sz="2100" b="1" dirty="0">
              <a:latin typeface="Arial" panose="020B0604020202020204" pitchFamily="34" charset="0"/>
              <a:cs typeface="Arial" panose="020B0604020202020204" pitchFamily="34" charset="0"/>
            </a:endParaRPr>
          </a:p>
        </p:txBody>
      </p:sp>
      <p:sp>
        <p:nvSpPr>
          <p:cNvPr id="43" name="object 13">
            <a:extLst>
              <a:ext uri="{FF2B5EF4-FFF2-40B4-BE49-F238E27FC236}">
                <a16:creationId xmlns:a16="http://schemas.microsoft.com/office/drawing/2014/main" id="{AC4FD520-8826-4ABD-AB84-8839A2FCAEBD}"/>
              </a:ext>
            </a:extLst>
          </p:cNvPr>
          <p:cNvSpPr txBox="1"/>
          <p:nvPr/>
        </p:nvSpPr>
        <p:spPr>
          <a:xfrm>
            <a:off x="5656437" y="13261382"/>
            <a:ext cx="3688254" cy="339195"/>
          </a:xfrm>
          <a:prstGeom prst="rect">
            <a:avLst/>
          </a:prstGeom>
          <a:gradFill flip="none" rotWithShape="1">
            <a:gsLst>
              <a:gs pos="0">
                <a:srgbClr val="1C85A6"/>
              </a:gs>
              <a:gs pos="50000">
                <a:schemeClr val="accent1">
                  <a:tint val="44500"/>
                  <a:satMod val="160000"/>
                </a:schemeClr>
              </a:gs>
              <a:gs pos="100000">
                <a:schemeClr val="accent1">
                  <a:tint val="23500"/>
                  <a:satMod val="160000"/>
                </a:schemeClr>
              </a:gs>
            </a:gsLst>
            <a:path path="circle">
              <a:fillToRect l="100000" b="100000"/>
            </a:path>
            <a:tileRect t="-100000" r="-100000"/>
          </a:gradFill>
        </p:spPr>
        <p:txBody>
          <a:bodyPr vert="horz" wrap="square" lIns="0" tIns="15875" rIns="0" bIns="0" rtlCol="0">
            <a:spAutoFit/>
          </a:bodyPr>
          <a:lstStyle/>
          <a:p>
            <a:pPr marL="12700">
              <a:lnSpc>
                <a:spcPct val="100000"/>
              </a:lnSpc>
              <a:spcBef>
                <a:spcPts val="125"/>
              </a:spcBef>
            </a:pPr>
            <a:r>
              <a:rPr lang="en-GB" sz="2100" b="1" dirty="0">
                <a:latin typeface="Arial Black"/>
                <a:cs typeface="Arial Black"/>
              </a:rPr>
              <a:t>Innovation and Creativity</a:t>
            </a:r>
            <a:endParaRPr sz="2100" b="1" dirty="0">
              <a:latin typeface="Arial Black"/>
              <a:cs typeface="Arial Black"/>
            </a:endParaRPr>
          </a:p>
        </p:txBody>
      </p:sp>
      <p:sp>
        <p:nvSpPr>
          <p:cNvPr id="45" name="object 13">
            <a:extLst>
              <a:ext uri="{FF2B5EF4-FFF2-40B4-BE49-F238E27FC236}">
                <a16:creationId xmlns:a16="http://schemas.microsoft.com/office/drawing/2014/main" id="{494A0AB3-8213-43FB-9AE1-80F0673442CF}"/>
              </a:ext>
            </a:extLst>
          </p:cNvPr>
          <p:cNvSpPr txBox="1"/>
          <p:nvPr/>
        </p:nvSpPr>
        <p:spPr>
          <a:xfrm>
            <a:off x="271012" y="15345905"/>
            <a:ext cx="2049590" cy="323807"/>
          </a:xfrm>
          <a:prstGeom prst="rect">
            <a:avLst/>
          </a:prstGeom>
          <a:gradFill flip="none" rotWithShape="1">
            <a:gsLst>
              <a:gs pos="0">
                <a:srgbClr val="1C85A6"/>
              </a:gs>
              <a:gs pos="50000">
                <a:schemeClr val="accent1">
                  <a:tint val="44500"/>
                  <a:satMod val="160000"/>
                </a:schemeClr>
              </a:gs>
              <a:gs pos="100000">
                <a:schemeClr val="accent1">
                  <a:tint val="23500"/>
                  <a:satMod val="160000"/>
                </a:schemeClr>
              </a:gs>
            </a:gsLst>
            <a:path path="circle">
              <a:fillToRect l="100000" b="100000"/>
            </a:path>
            <a:tileRect t="-100000" r="-100000"/>
          </a:gradFill>
        </p:spPr>
        <p:txBody>
          <a:bodyPr vert="horz" wrap="square" lIns="0" tIns="15875" rIns="0" bIns="0" rtlCol="0">
            <a:spAutoFit/>
          </a:bodyPr>
          <a:lstStyle/>
          <a:p>
            <a:pPr marL="12700">
              <a:lnSpc>
                <a:spcPct val="100000"/>
              </a:lnSpc>
              <a:spcBef>
                <a:spcPts val="125"/>
              </a:spcBef>
            </a:pPr>
            <a:r>
              <a:rPr lang="en-GB" sz="2000" b="1" dirty="0">
                <a:latin typeface="Arial Black"/>
                <a:cs typeface="Arial Black"/>
              </a:rPr>
              <a:t>Conclusion</a:t>
            </a:r>
            <a:endParaRPr sz="2000" b="1" dirty="0">
              <a:latin typeface="Arial Black"/>
              <a:cs typeface="Arial Black"/>
            </a:endParaRPr>
          </a:p>
        </p:txBody>
      </p:sp>
      <p:sp>
        <p:nvSpPr>
          <p:cNvPr id="46" name="object 13">
            <a:extLst>
              <a:ext uri="{FF2B5EF4-FFF2-40B4-BE49-F238E27FC236}">
                <a16:creationId xmlns:a16="http://schemas.microsoft.com/office/drawing/2014/main" id="{746AD412-13F2-4091-9C67-9C78AA92FF0C}"/>
              </a:ext>
            </a:extLst>
          </p:cNvPr>
          <p:cNvSpPr txBox="1"/>
          <p:nvPr/>
        </p:nvSpPr>
        <p:spPr>
          <a:xfrm>
            <a:off x="10723300" y="18509967"/>
            <a:ext cx="2049590" cy="323807"/>
          </a:xfrm>
          <a:prstGeom prst="rect">
            <a:avLst/>
          </a:prstGeom>
          <a:gradFill flip="none" rotWithShape="1">
            <a:gsLst>
              <a:gs pos="0">
                <a:srgbClr val="1C85A6"/>
              </a:gs>
              <a:gs pos="50000">
                <a:schemeClr val="accent1">
                  <a:tint val="44500"/>
                  <a:satMod val="160000"/>
                </a:schemeClr>
              </a:gs>
              <a:gs pos="100000">
                <a:schemeClr val="accent1">
                  <a:tint val="23500"/>
                  <a:satMod val="160000"/>
                </a:schemeClr>
              </a:gs>
            </a:gsLst>
            <a:path path="circle">
              <a:fillToRect l="100000" b="100000"/>
            </a:path>
            <a:tileRect t="-100000" r="-100000"/>
          </a:gradFill>
        </p:spPr>
        <p:txBody>
          <a:bodyPr vert="horz" wrap="square" lIns="0" tIns="15875" rIns="0" bIns="0" rtlCol="0">
            <a:spAutoFit/>
          </a:bodyPr>
          <a:lstStyle/>
          <a:p>
            <a:pPr marL="12700">
              <a:lnSpc>
                <a:spcPct val="100000"/>
              </a:lnSpc>
              <a:spcBef>
                <a:spcPts val="125"/>
              </a:spcBef>
            </a:pPr>
            <a:r>
              <a:rPr lang="en-GB" sz="2000" b="1" dirty="0">
                <a:latin typeface="Arial Black"/>
                <a:cs typeface="Arial Black"/>
              </a:rPr>
              <a:t>Future Work</a:t>
            </a:r>
            <a:endParaRPr sz="2000" b="1" dirty="0">
              <a:latin typeface="Arial Black"/>
              <a:cs typeface="Arial Black"/>
            </a:endParaRPr>
          </a:p>
        </p:txBody>
      </p:sp>
      <p:sp>
        <p:nvSpPr>
          <p:cNvPr id="47" name="object 13">
            <a:extLst>
              <a:ext uri="{FF2B5EF4-FFF2-40B4-BE49-F238E27FC236}">
                <a16:creationId xmlns:a16="http://schemas.microsoft.com/office/drawing/2014/main" id="{2C56BA4E-3A5B-4F44-A57B-70548557C958}"/>
              </a:ext>
            </a:extLst>
          </p:cNvPr>
          <p:cNvSpPr txBox="1"/>
          <p:nvPr/>
        </p:nvSpPr>
        <p:spPr>
          <a:xfrm>
            <a:off x="1318039" y="18519482"/>
            <a:ext cx="2780496" cy="323807"/>
          </a:xfrm>
          <a:prstGeom prst="rect">
            <a:avLst/>
          </a:prstGeom>
          <a:gradFill flip="none" rotWithShape="1">
            <a:gsLst>
              <a:gs pos="0">
                <a:srgbClr val="1C85A6"/>
              </a:gs>
              <a:gs pos="50000">
                <a:schemeClr val="accent1">
                  <a:tint val="44500"/>
                  <a:satMod val="160000"/>
                </a:schemeClr>
              </a:gs>
              <a:gs pos="100000">
                <a:schemeClr val="accent1">
                  <a:tint val="23500"/>
                  <a:satMod val="160000"/>
                </a:schemeClr>
              </a:gs>
            </a:gsLst>
            <a:path path="circle">
              <a:fillToRect l="100000" b="100000"/>
            </a:path>
            <a:tileRect t="-100000" r="-100000"/>
          </a:gradFill>
        </p:spPr>
        <p:txBody>
          <a:bodyPr vert="horz" wrap="square" lIns="0" tIns="15875" rIns="0" bIns="0" rtlCol="0">
            <a:spAutoFit/>
          </a:bodyPr>
          <a:lstStyle/>
          <a:p>
            <a:pPr marL="12700">
              <a:lnSpc>
                <a:spcPct val="100000"/>
              </a:lnSpc>
              <a:spcBef>
                <a:spcPts val="125"/>
              </a:spcBef>
            </a:pPr>
            <a:r>
              <a:rPr lang="en-GB" sz="2000" b="1" dirty="0">
                <a:latin typeface="Arial Black"/>
                <a:cs typeface="Arial Black"/>
              </a:rPr>
              <a:t>Acknowledgement</a:t>
            </a:r>
            <a:endParaRPr sz="2000" b="1" dirty="0">
              <a:latin typeface="Arial Black"/>
              <a:cs typeface="Arial Black"/>
            </a:endParaRPr>
          </a:p>
        </p:txBody>
      </p:sp>
      <p:sp>
        <p:nvSpPr>
          <p:cNvPr id="25" name="Rectangle: Rounded Corners 24">
            <a:extLst>
              <a:ext uri="{FF2B5EF4-FFF2-40B4-BE49-F238E27FC236}">
                <a16:creationId xmlns:a16="http://schemas.microsoft.com/office/drawing/2014/main" id="{E2E8ED9C-B224-40D1-9B6B-21AB31C8CD22}"/>
              </a:ext>
            </a:extLst>
          </p:cNvPr>
          <p:cNvSpPr/>
          <p:nvPr/>
        </p:nvSpPr>
        <p:spPr>
          <a:xfrm>
            <a:off x="18240" y="17470933"/>
            <a:ext cx="14173395" cy="1050647"/>
          </a:xfrm>
          <a:prstGeom prst="roundRect">
            <a:avLst/>
          </a:prstGeom>
          <a:no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wrap="square"/>
          <a:lstStyle/>
          <a:p>
            <a:pPr algn="ctr">
              <a:lnSpc>
                <a:spcPct val="105000"/>
              </a:lnSpc>
              <a:spcAft>
                <a:spcPts val="0"/>
              </a:spcAft>
            </a:pPr>
            <a:r>
              <a:rPr sz="1150" b="0">
                <a:solidFill>
                  <a:srgbClr val="12283C"/>
                </a:solidFill>
                <a:latin typeface="Arial"/>
              </a:rPr>
              <a:t>Kaza, S. et al. (2018). What a Waste 2.0. World Bank.   |   Guerrero, L.A. et al. (2013). Solid waste management challenges for cities in developing countries. Waste Management, 33(1).   |   Warden, P. &amp; Situnayake, D. (2019). TinyML. O'Reilly.   |   Szeliski, R. (2022). Computer Vision: Algorithms and Applications.</a:t>
            </a:r>
            <a:endParaRPr lang="en-GB"/>
          </a:p>
        </p:txBody>
      </p:sp>
      <p:sp>
        <p:nvSpPr>
          <p:cNvPr id="59" name="object 13">
            <a:extLst>
              <a:ext uri="{FF2B5EF4-FFF2-40B4-BE49-F238E27FC236}">
                <a16:creationId xmlns:a16="http://schemas.microsoft.com/office/drawing/2014/main" id="{AA323CE9-2BFE-4D90-ACC3-1B6214471D19}"/>
              </a:ext>
            </a:extLst>
          </p:cNvPr>
          <p:cNvSpPr txBox="1"/>
          <p:nvPr/>
        </p:nvSpPr>
        <p:spPr>
          <a:xfrm>
            <a:off x="5810250" y="17168051"/>
            <a:ext cx="2049590" cy="323807"/>
          </a:xfrm>
          <a:prstGeom prst="rect">
            <a:avLst/>
          </a:prstGeom>
          <a:gradFill flip="none" rotWithShape="1">
            <a:gsLst>
              <a:gs pos="0">
                <a:srgbClr val="1C85A6"/>
              </a:gs>
              <a:gs pos="50000">
                <a:schemeClr val="accent1">
                  <a:tint val="44500"/>
                  <a:satMod val="160000"/>
                </a:schemeClr>
              </a:gs>
              <a:gs pos="100000">
                <a:schemeClr val="accent1">
                  <a:tint val="23500"/>
                  <a:satMod val="160000"/>
                </a:schemeClr>
              </a:gs>
            </a:gsLst>
            <a:path path="circle">
              <a:fillToRect l="100000" b="100000"/>
            </a:path>
            <a:tileRect t="-100000" r="-100000"/>
          </a:gradFill>
        </p:spPr>
        <p:txBody>
          <a:bodyPr vert="horz" wrap="square" lIns="0" tIns="15875" rIns="0" bIns="0" rtlCol="0">
            <a:spAutoFit/>
          </a:bodyPr>
          <a:lstStyle/>
          <a:p>
            <a:pPr marL="12700">
              <a:lnSpc>
                <a:spcPct val="100000"/>
              </a:lnSpc>
              <a:spcBef>
                <a:spcPts val="125"/>
              </a:spcBef>
            </a:pPr>
            <a:r>
              <a:rPr lang="en-GB" sz="2000" b="1" dirty="0">
                <a:latin typeface="Arial Black"/>
                <a:cs typeface="Arial Black"/>
              </a:rPr>
              <a:t>References</a:t>
            </a:r>
            <a:endParaRPr sz="2000" b="1" dirty="0">
              <a:latin typeface="Arial Black"/>
              <a:cs typeface="Arial Black"/>
            </a:endParaRPr>
          </a:p>
        </p:txBody>
      </p:sp>
      <p:cxnSp>
        <p:nvCxnSpPr>
          <p:cNvPr id="67" name="Straight Connector 66">
            <a:extLst>
              <a:ext uri="{FF2B5EF4-FFF2-40B4-BE49-F238E27FC236}">
                <a16:creationId xmlns:a16="http://schemas.microsoft.com/office/drawing/2014/main" id="{6D67A091-183D-4B96-94CC-267C2CF36B4E}"/>
              </a:ext>
            </a:extLst>
          </p:cNvPr>
          <p:cNvCxnSpPr/>
          <p:nvPr/>
        </p:nvCxnSpPr>
        <p:spPr>
          <a:xfrm>
            <a:off x="8763145" y="18843289"/>
            <a:ext cx="0" cy="1190861"/>
          </a:xfrm>
          <a:prstGeom prst="line">
            <a:avLst/>
          </a:prstGeom>
        </p:spPr>
        <p:style>
          <a:lnRef idx="1">
            <a:schemeClr val="dk1"/>
          </a:lnRef>
          <a:fillRef idx="0">
            <a:schemeClr val="dk1"/>
          </a:fillRef>
          <a:effectRef idx="0">
            <a:schemeClr val="dk1"/>
          </a:effectRef>
          <a:fontRef idx="minor">
            <a:schemeClr val="tx1"/>
          </a:fontRef>
        </p:style>
      </p:cxnSp>
      <p:sp>
        <p:nvSpPr>
          <p:cNvPr id="73" name="TextBox 72"/>
          <p:cNvSpPr txBox="1"/>
          <p:nvPr/>
        </p:nvSpPr>
        <p:spPr>
          <a:xfrm>
            <a:off x="320040" y="18973800"/>
            <a:ext cx="6492240" cy="1051560"/>
          </a:xfrm>
          <a:prstGeom prst="rect">
            <a:avLst/>
          </a:prstGeom>
          <a:noFill/>
        </p:spPr>
        <p:txBody>
          <a:bodyPr wrap="square" anchor="t" lIns="0" rIns="0" tIns="0" bIns="0">
            <a:spAutoFit/>
          </a:bodyPr>
          <a:lstStyle/>
          <a:p>
            <a:pPr algn="l">
              <a:lnSpc>
                <a:spcPct val="110000"/>
              </a:lnSpc>
            </a:pPr>
            <a:r>
              <a:rPr sz="1400">
                <a:solidFill>
                  <a:srgbClr val="12283C"/>
                </a:solidFill>
                <a:latin typeface="Arial"/>
              </a:rPr>
              <a:t>We sincerely thank our supervisor for the guidance and support given throughout this project, and the Department of Computer Engineering, ABU Zaria, for the technical resources provided.</a:t>
            </a:r>
          </a:p>
        </p:txBody>
      </p:sp>
      <p:sp>
        <p:nvSpPr>
          <p:cNvPr id="74" name="TextBox 73"/>
          <p:cNvSpPr txBox="1"/>
          <p:nvPr/>
        </p:nvSpPr>
        <p:spPr>
          <a:xfrm>
            <a:off x="7269480" y="18973800"/>
            <a:ext cx="6492240" cy="1051560"/>
          </a:xfrm>
          <a:prstGeom prst="rect">
            <a:avLst/>
          </a:prstGeom>
          <a:noFill/>
        </p:spPr>
        <p:txBody>
          <a:bodyPr wrap="square" anchor="t" lIns="0" rIns="0" tIns="0" bIns="0">
            <a:spAutoFit/>
          </a:bodyPr>
          <a:lstStyle/>
          <a:p>
            <a:pPr algn="l">
              <a:lnSpc>
                <a:spcPct val="110000"/>
              </a:lnSpc>
            </a:pPr>
            <a:r>
              <a:rPr sz="1400">
                <a:solidFill>
                  <a:srgbClr val="12283C"/>
                </a:solidFill>
                <a:latin typeface="Arial"/>
              </a:rPr>
              <a:t>Future work includes expanding classification to more waste categories (paper, glass, e-waste), adding IoT connectivity for remote bin monitoring, and a solar-powered outdoor version.</a:t>
            </a:r>
          </a:p>
        </p:txBody>
      </p:sp>
      <p:pic>
        <p:nvPicPr>
          <p:cNvPr id="75" name="Picture 74" descr="block_diagram.png"/>
          <p:cNvPicPr>
            <a:picLocks noChangeAspect="1"/>
          </p:cNvPicPr>
          <p:nvPr/>
        </p:nvPicPr>
        <p:blipFill>
          <a:blip r:embed="rId6"/>
          <a:stretch>
            <a:fillRect/>
          </a:stretch>
        </p:blipFill>
        <p:spPr>
          <a:xfrm>
            <a:off x="5063947" y="7635240"/>
            <a:ext cx="4754880" cy="5172950"/>
          </a:xfrm>
          <a:prstGeom prst="rect">
            <a:avLst/>
          </a:prstGeom>
        </p:spPr>
      </p:pic>
      <p:pic>
        <p:nvPicPr>
          <p:cNvPr id="76" name="Picture 75" descr="results_chart.png"/>
          <p:cNvPicPr>
            <a:picLocks noChangeAspect="1"/>
          </p:cNvPicPr>
          <p:nvPr/>
        </p:nvPicPr>
        <p:blipFill>
          <a:blip r:embed="rId7"/>
          <a:stretch>
            <a:fillRect/>
          </a:stretch>
        </p:blipFill>
        <p:spPr>
          <a:xfrm>
            <a:off x="10357408" y="7086600"/>
            <a:ext cx="3657600" cy="2719754"/>
          </a:xfrm>
          <a:prstGeom prst="rect">
            <a:avLst/>
          </a:prstGeom>
        </p:spPr>
      </p:pic>
      <p:sp>
        <p:nvSpPr>
          <p:cNvPr id="77" name="TextBox 76"/>
          <p:cNvSpPr txBox="1"/>
          <p:nvPr/>
        </p:nvSpPr>
        <p:spPr>
          <a:xfrm>
            <a:off x="10344607" y="9943513"/>
            <a:ext cx="3683203" cy="822960"/>
          </a:xfrm>
          <a:prstGeom prst="rect">
            <a:avLst/>
          </a:prstGeom>
          <a:noFill/>
        </p:spPr>
        <p:txBody>
          <a:bodyPr wrap="square" anchor="t" lIns="0" rIns="0" tIns="0" bIns="0">
            <a:spAutoFit/>
          </a:bodyPr>
          <a:lstStyle/>
          <a:p>
            <a:pPr algn="ctr">
              <a:lnSpc>
                <a:spcPct val="110000"/>
              </a:lnSpc>
            </a:pPr>
            <a:r>
              <a:rPr sz="1200">
                <a:solidFill>
                  <a:srgbClr val="12283C"/>
                </a:solidFill>
                <a:latin typeface="Arial"/>
              </a:rPr>
              <a:t>Average response time: ~1.8 s per item
Confidence threshold: 70–80%</a:t>
            </a:r>
          </a:p>
        </p:txBody>
      </p:sp>
      <p:sp>
        <p:nvSpPr>
          <p:cNvPr id="78" name="TextBox 77"/>
          <p:cNvSpPr txBox="1"/>
          <p:nvPr/>
        </p:nvSpPr>
        <p:spPr>
          <a:xfrm>
            <a:off x="10372039" y="10698480"/>
            <a:ext cx="3628339" cy="2651760"/>
          </a:xfrm>
          <a:prstGeom prst="rect">
            <a:avLst/>
          </a:prstGeom>
          <a:noFill/>
        </p:spPr>
        <p:txBody>
          <a:bodyPr wrap="square" anchor="t" lIns="0" rIns="0" tIns="0" bIns="0">
            <a:spAutoFit/>
          </a:bodyPr>
          <a:lstStyle/>
          <a:p>
            <a:pPr algn="l">
              <a:lnSpc>
                <a:spcPct val="112000"/>
              </a:lnSpc>
              <a:spcAft>
                <a:spcPts val="300"/>
              </a:spcAft>
            </a:pPr>
            <a:r>
              <a:rPr sz="1300" b="1">
                <a:solidFill>
                  <a:srgbClr val="12283C"/>
                </a:solidFill>
                <a:latin typeface="Arial"/>
              </a:rPr>
              <a:t>System testing covers:</a:t>
            </a:r>
          </a:p>
          <a:p>
            <a:pPr algn="l">
              <a:lnSpc>
                <a:spcPct val="112000"/>
              </a:lnSpc>
              <a:spcAft>
                <a:spcPts val="300"/>
              </a:spcAft>
            </a:pPr>
            <a:r>
              <a:rPr sz="1200" b="0">
                <a:solidFill>
                  <a:srgbClr val="12283C"/>
                </a:solidFill>
                <a:latin typeface="Arial"/>
              </a:rPr>
              <a:t>•  Classification accuracy per class</a:t>
            </a:r>
          </a:p>
          <a:p>
            <a:pPr algn="l">
              <a:lnSpc>
                <a:spcPct val="112000"/>
              </a:lnSpc>
              <a:spcAft>
                <a:spcPts val="300"/>
              </a:spcAft>
            </a:pPr>
            <a:r>
              <a:rPr sz="1200" b="0">
                <a:solidFill>
                  <a:srgbClr val="12283C"/>
                </a:solidFill>
                <a:latin typeface="Arial"/>
              </a:rPr>
              <a:t>•  Sorting accuracy (correct bin)</a:t>
            </a:r>
          </a:p>
          <a:p>
            <a:pPr algn="l">
              <a:lnSpc>
                <a:spcPct val="112000"/>
              </a:lnSpc>
              <a:spcAft>
                <a:spcPts val="300"/>
              </a:spcAft>
            </a:pPr>
            <a:r>
              <a:rPr sz="1200" b="0">
                <a:solidFill>
                  <a:srgbClr val="12283C"/>
                </a:solidFill>
                <a:latin typeface="Arial"/>
              </a:rPr>
              <a:t>•  Bin-level detection accuracy</a:t>
            </a:r>
          </a:p>
          <a:p>
            <a:pPr algn="l">
              <a:lnSpc>
                <a:spcPct val="112000"/>
              </a:lnSpc>
              <a:spcAft>
                <a:spcPts val="300"/>
              </a:spcAft>
            </a:pPr>
            <a:r>
              <a:rPr sz="1200" b="0">
                <a:solidFill>
                  <a:srgbClr val="12283C"/>
                </a:solidFill>
                <a:latin typeface="Arial"/>
              </a:rPr>
              <a:t>•  Servo response time</a:t>
            </a:r>
          </a:p>
          <a:p>
            <a:pPr algn="l">
              <a:lnSpc>
                <a:spcPct val="112000"/>
              </a:lnSpc>
              <a:spcAft>
                <a:spcPts val="300"/>
              </a:spcAft>
            </a:pPr>
            <a:r>
              <a:rPr sz="1200" b="0">
                <a:solidFill>
                  <a:srgbClr val="12283C"/>
                </a:solidFill>
                <a:latin typeface="Arial"/>
              </a:rPr>
              <a:t>•  False-classification rate</a:t>
            </a:r>
          </a:p>
        </p:txBody>
      </p:sp>
    </p:spTree>
    <p:extLst>
      <p:ext uri="{BB962C8B-B14F-4D97-AF65-F5344CB8AC3E}">
        <p14:creationId xmlns:p14="http://schemas.microsoft.com/office/powerpoint/2010/main" val="19561948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2111</TotalTime>
  <Words>52</Words>
  <Application>Microsoft Office PowerPoint</Application>
  <PresentationFormat>Custom</PresentationFormat>
  <Paragraphs>16</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 Black</vt:lpstr>
      <vt:lpstr>Bahnschrift SemiBold Condensed</vt:lpstr>
      <vt:lpstr>Calibri</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Habeeb</dc:creator>
  <cp:lastModifiedBy>Habeeb</cp:lastModifiedBy>
  <cp:revision>53</cp:revision>
  <dcterms:created xsi:type="dcterms:W3CDTF">2021-09-25T21:26:11Z</dcterms:created>
  <dcterms:modified xsi:type="dcterms:W3CDTF">2023-08-24T11:35:09Z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2019-10-14T00:00:00Z</vt:filetime>
  </property>
  <property fmtid="{D5CDD505-2E9C-101B-9397-08002B2CF9AE}" pid="3" name="Creator">
    <vt:lpwstr>Microsoft® PowerPoint® 2010</vt:lpwstr>
  </property>
  <property fmtid="{D5CDD505-2E9C-101B-9397-08002B2CF9AE}" pid="4" name="LastSaved">
    <vt:filetime>2021-09-25T00:00:00Z</vt:filetime>
  </property>
</Properties>
</file>